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ckmirror_logo_178595092273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274320"/>
            <a:ext cx="4572000" cy="2560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9260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00D4FF"/>
                </a:solidFill>
                <a:latin typeface="Trebuchet MS" panose="020B0603020202020204"/>
              </a:defRPr>
            </a:pPr>
            <a:r>
              <a:t>MOCKMIRROR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118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8B5CF6"/>
                </a:solidFill>
                <a:latin typeface="Arial" panose="020B0604020202020204"/>
              </a:defRPr>
            </a:pPr>
            <a:r>
              <a:t>Practice Smart. Interview Confident.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9CA3AF"/>
                </a:solidFill>
                <a:latin typeface="Arial" panose="020B0604020202020204"/>
              </a:defRPr>
            </a:pPr>
            <a:r>
              <a:t>TEAM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663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3F4F6"/>
                </a:solidFill>
                <a:latin typeface="Arial" panose="020B0604020202020204"/>
              </a:defRPr>
            </a:pPr>
            <a:r>
              <a:t>Member 1 Name</a:t>
            </a:r>
          </a:p>
          <a:p>
            <a:pPr algn="ctr">
              <a:defRPr sz="1100">
                <a:solidFill>
                  <a:srgbClr val="9CA3AF"/>
                </a:solidFill>
                <a:latin typeface="Arial" panose="020B0604020202020204"/>
              </a:defRPr>
            </a:pPr>
            <a:r>
              <a:t>Enrollment: XXXXXXXXXX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39" y="51663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3F4F6"/>
                </a:solidFill>
                <a:latin typeface="Arial" panose="020B0604020202020204"/>
              </a:defRPr>
            </a:pPr>
            <a:r>
              <a:t>Member 2 Name</a:t>
            </a:r>
          </a:p>
          <a:p>
            <a:pPr algn="ctr">
              <a:defRPr sz="1100">
                <a:solidFill>
                  <a:srgbClr val="9CA3AF"/>
                </a:solidFill>
                <a:latin typeface="Arial" panose="020B0604020202020204"/>
              </a:defRPr>
            </a:pPr>
            <a:r>
              <a:t>Enrollment: XXXXXXXXXX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51663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3F4F6"/>
                </a:solidFill>
                <a:latin typeface="Arial" panose="020B0604020202020204"/>
              </a:defRPr>
            </a:pPr>
            <a:r>
              <a:t>Member 3 Name</a:t>
            </a:r>
          </a:p>
          <a:p>
            <a:pPr algn="ctr">
              <a:defRPr sz="1100">
                <a:solidFill>
                  <a:srgbClr val="9CA3AF"/>
                </a:solidFill>
                <a:latin typeface="Arial" panose="020B0604020202020204"/>
              </a:defRPr>
            </a:pPr>
            <a:r>
              <a:t>Enrollment: XXXXXXXXXX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51663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3F4F6"/>
                </a:solidFill>
                <a:latin typeface="Arial" panose="020B0604020202020204"/>
              </a:defRPr>
            </a:pPr>
            <a:r>
              <a:t>Member 4 Name</a:t>
            </a:r>
          </a:p>
          <a:p>
            <a:pPr algn="ctr">
              <a:defRPr sz="1100">
                <a:solidFill>
                  <a:srgbClr val="9CA3AF"/>
                </a:solidFill>
                <a:latin typeface="Arial" panose="020B0604020202020204"/>
              </a:defRPr>
            </a:pPr>
            <a:r>
              <a:t>Enrollment: XXXXXXXXXX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00D4FF"/>
                </a:solidFill>
                <a:latin typeface="Trebuchet MS" panose="020B0603020202020204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CA3AF"/>
                </a:solidFill>
                <a:latin typeface="Arial" panose="020B0604020202020204"/>
              </a:defRPr>
            </a:pPr>
            <a:r>
              <a:t>Why Interview Preparation is Broken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015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8B5CF6"/>
                </a:solidFill>
                <a:latin typeface="Arial" panose="020B0604020202020204"/>
              </a:rPr>
              <a:t>•  Placement &amp; Job Interview Anxiety: </a:t>
            </a:r>
            <a:r>
              <a:rPr sz="1500" b="0">
                <a:solidFill>
                  <a:srgbClr val="F3F4F6"/>
                </a:solidFill>
                <a:latin typeface="Arial" panose="020B0604020202020204"/>
              </a:rPr>
              <a:t>Students and freshers face extreme nervousness during campus placements and job interviews due to lack of real practice with a live interviewer.</a:t>
            </a:r>
            <a:endParaRPr sz="1500" b="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8B5CF6"/>
                </a:solidFill>
                <a:latin typeface="Arial" panose="020B0604020202020204"/>
              </a:rPr>
              <a:t>•  Hesitation While Speaking: </a:t>
            </a:r>
            <a:r>
              <a:rPr sz="1500" b="0">
                <a:solidFill>
                  <a:srgbClr val="F3F4F6"/>
                </a:solidFill>
                <a:latin typeface="Arial" panose="020B0604020202020204"/>
              </a:rPr>
              <a:t>Many candidates know the answers but freeze, stutter, or hesitate when speaking out loud, leading to poor first impressions.</a:t>
            </a:r>
            <a:endParaRPr sz="1500" b="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8B5CF6"/>
                </a:solidFill>
                <a:latin typeface="Arial" panose="020B0604020202020204"/>
              </a:rPr>
              <a:t>•  Unknown Question Patterns: </a:t>
            </a:r>
            <a:r>
              <a:rPr sz="1500" b="0">
                <a:solidFill>
                  <a:srgbClr val="F3F4F6"/>
                </a:solidFill>
                <a:latin typeface="Arial" panose="020B0604020202020204"/>
              </a:rPr>
              <a:t>Candidates have no idea what type of questions will be asked — technical, behavioral, situational, or resume-based — and cannot prepare effectively.</a:t>
            </a:r>
            <a:endParaRPr sz="1500" b="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8B5CF6"/>
                </a:solidFill>
                <a:latin typeface="Arial" panose="020B0604020202020204"/>
              </a:rPr>
              <a:t>•  No Feedback on Body Language: </a:t>
            </a:r>
            <a:r>
              <a:rPr sz="1500" b="0">
                <a:solidFill>
                  <a:srgbClr val="F3F4F6"/>
                </a:solidFill>
                <a:latin typeface="Arial" panose="020B0604020202020204"/>
              </a:rPr>
              <a:t>Traditional preparation ignores facial expressions, eye contact, posture, and head movement — all critical factors interviewers silently evaluate.</a:t>
            </a:r>
            <a:endParaRPr sz="1500" b="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8B5CF6"/>
                </a:solidFill>
                <a:latin typeface="Arial" panose="020B0604020202020204"/>
              </a:rPr>
              <a:t>•  Static Mock Interviews: </a:t>
            </a:r>
            <a:r>
              <a:rPr sz="1500" b="0">
                <a:solidFill>
                  <a:srgbClr val="F3F4F6"/>
                </a:solidFill>
                <a:latin typeface="Arial" panose="020B0604020202020204"/>
              </a:rPr>
              <a:t>Existing tools provide scripted, pre-written Q&amp;As that don't adapt to a candidate's actual resume, spoken answers, or real-time performance.</a:t>
            </a:r>
            <a:endParaRPr sz="1500" b="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8B5CF6"/>
                </a:solidFill>
                <a:latin typeface="Arial" panose="020B0604020202020204"/>
              </a:rPr>
              <a:t>•  No Safe Practice Environment: </a:t>
            </a:r>
            <a:r>
              <a:rPr sz="1500" b="0">
                <a:solidFill>
                  <a:srgbClr val="F3F4F6"/>
                </a:solidFill>
                <a:latin typeface="Arial" panose="020B0604020202020204"/>
              </a:rPr>
              <a:t>There is no affordable, private, judgment-free space where candidates can repeatedly practice and improve before the real interview day.</a:t>
            </a:r>
            <a:endParaRPr sz="1500" b="0">
              <a:solidFill>
                <a:srgbClr val="F3F4F6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00D4FF"/>
                </a:solidFill>
                <a:latin typeface="Trebuchet MS" panose="020B0603020202020204"/>
              </a:defRPr>
            </a:pPr>
            <a:r>
              <a:t>OUR SOLUTION — MOCKMIRROR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8B5CF6"/>
                </a:solidFill>
                <a:latin typeface="Arial" panose="020B0604020202020204"/>
              </a:defRPr>
            </a:pPr>
            <a:r>
              <a:t>Practice Smart. Interview Confident.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01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8B5CF6"/>
                </a:solidFill>
                <a:latin typeface="Arial" panose="020B0604020202020204"/>
              </a:rPr>
              <a:t>•  AI-Powered Conversational Practice: </a:t>
            </a:r>
            <a:r>
              <a:rPr sz="1500" b="0">
                <a:solidFill>
                  <a:srgbClr val="F3F4F6"/>
                </a:solidFill>
                <a:latin typeface="Arial" panose="020B0604020202020204"/>
              </a:rPr>
              <a:t>Candidates visit our website and practice for their interviews by having a real-time voice conversation with our AI interviewer — just like a real interview.</a:t>
            </a:r>
            <a:endParaRPr sz="1500" b="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8B5CF6"/>
                </a:solidFill>
                <a:latin typeface="Arial" panose="020B0604020202020204"/>
              </a:rPr>
              <a:t>•  Resume-Based Personalized Questions: </a:t>
            </a:r>
            <a:r>
              <a:rPr sz="1500" b="0">
                <a:solidFill>
                  <a:srgbClr val="F3F4F6"/>
                </a:solidFill>
                <a:latin typeface="Arial" panose="020B0604020202020204"/>
              </a:rPr>
              <a:t>Upload your PDF resume, and the AI reads your skills, projects, and experience to ask highly targeted and relevant questions.</a:t>
            </a:r>
            <a:endParaRPr sz="1500" b="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8B5CF6"/>
                </a:solidFill>
                <a:latin typeface="Arial" panose="020B0604020202020204"/>
              </a:rPr>
              <a:t>•  Real-Time Answer Evaluation: </a:t>
            </a:r>
            <a:r>
              <a:rPr sz="1500" b="0">
                <a:solidFill>
                  <a:srgbClr val="F3F4F6"/>
                </a:solidFill>
                <a:latin typeface="Arial" panose="020B0604020202020204"/>
              </a:rPr>
              <a:t>The AI doesn't just ask questions — it analyzes every answer for correctness, depth, and relevance. If an answer is fake or vague, it immediately calls it out and corrects the candidate.</a:t>
            </a:r>
            <a:endParaRPr sz="1500" b="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8B5CF6"/>
                </a:solidFill>
                <a:latin typeface="Arial" panose="020B0604020202020204"/>
              </a:rPr>
              <a:t>•  Face Expression &amp; Posture Detection: </a:t>
            </a:r>
            <a:r>
              <a:rPr sz="1500" b="0">
                <a:solidFill>
                  <a:srgbClr val="F3F4F6"/>
                </a:solidFill>
                <a:latin typeface="Arial" panose="020B0604020202020204"/>
              </a:rPr>
              <a:t>Using the browser camera, MockMirror tracks facial expressions, face centering, eye contact, and head posture — providing feedback on how the candidate physically presents themselves.</a:t>
            </a:r>
            <a:endParaRPr sz="1500" b="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8B5CF6"/>
                </a:solidFill>
                <a:latin typeface="Arial" panose="020B0604020202020204"/>
              </a:rPr>
              <a:t>•  Comprehensive Performance Report: </a:t>
            </a:r>
            <a:r>
              <a:rPr sz="1500" b="0">
                <a:solidFill>
                  <a:srgbClr val="F3F4F6"/>
                </a:solidFill>
                <a:latin typeface="Arial" panose="020B0604020202020204"/>
              </a:rPr>
              <a:t>A detailed report is generated with scores across technical accuracy, communication, confidence, and behavioral metrics — downloadable as a PDF.</a:t>
            </a:r>
            <a:endParaRPr sz="1500" b="0">
              <a:solidFill>
                <a:srgbClr val="F3F4F6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20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00D4FF"/>
                </a:solidFill>
                <a:latin typeface="Trebuchet MS" panose="020B0603020202020204"/>
              </a:defRPr>
            </a:pPr>
            <a:r>
              <a:t>USER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CA3AF"/>
                </a:solidFill>
                <a:latin typeface="Arial" panose="020B0604020202020204"/>
              </a:defRPr>
            </a:pPr>
            <a:r>
              <a:t>How a Candidate Uses MockMirror —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0B981"/>
                </a:solidFill>
                <a:latin typeface="Arial" panose="020B0604020202020204"/>
              </a:defRPr>
            </a:pPr>
            <a:r>
              <a:t>INTERVIEW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F3F4F6"/>
                </a:solidFill>
                <a:latin typeface="Arial" panose="020B0604020202020204"/>
              </a:rPr>
              <a:t>Open MockMirror website</a:t>
            </a:r>
            <a:endParaRPr sz="130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F3F4F6"/>
                </a:solidFill>
                <a:latin typeface="Arial" panose="020B0604020202020204"/>
              </a:rPr>
              <a:t>Select Interview Type — Technical or HR/Non-Technical</a:t>
            </a:r>
            <a:endParaRPr sz="130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F3F4F6"/>
                </a:solidFill>
                <a:latin typeface="Arial" panose="020B0604020202020204"/>
              </a:rPr>
              <a:t>If Technical: Select Domain (Web Dev, AI/ML, Cyber, Cloud, etc.)</a:t>
            </a:r>
            <a:endParaRPr sz="130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F3F4F6"/>
                </a:solidFill>
                <a:latin typeface="Arial" panose="020B0604020202020204"/>
              </a:rPr>
              <a:t>Upload Resume (PDF) — used to personalize questions</a:t>
            </a:r>
            <a:endParaRPr sz="130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F3F4F6"/>
                </a:solidFill>
                <a:latin typeface="Arial" panose="020B0604020202020204"/>
              </a:rPr>
              <a:t>Select Difficulty — Beginner / Intermediate / Advanced</a:t>
            </a:r>
            <a:endParaRPr sz="130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F3F4F6"/>
                </a:solidFill>
                <a:latin typeface="Arial" panose="020B0604020202020204"/>
              </a:rPr>
              <a:t>Click Start Interview</a:t>
            </a:r>
            <a:endParaRPr sz="130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F3F4F6"/>
                </a:solidFill>
                <a:latin typeface="Arial" panose="020B0604020202020204"/>
              </a:rPr>
              <a:t>Grant Camera &amp; Microphone Permissions</a:t>
            </a:r>
            <a:endParaRPr sz="1300">
              <a:solidFill>
                <a:srgbClr val="F3F4F6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C4899"/>
                </a:solidFill>
                <a:latin typeface="Arial" panose="020B0604020202020204"/>
              </a:defRPr>
            </a:pPr>
            <a:r>
              <a:t>AI INTERVIEW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EC4899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F3F4F6"/>
                </a:solidFill>
                <a:latin typeface="Arial" panose="020B0604020202020204"/>
              </a:rPr>
              <a:t>AI starts the conversational interview</a:t>
            </a:r>
            <a:endParaRPr sz="130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EC4899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F3F4F6"/>
                </a:solidFill>
                <a:latin typeface="Arial" panose="020B0604020202020204"/>
              </a:rPr>
              <a:t>AI asks questions, analyzes answers, generates follow-ups</a:t>
            </a:r>
            <a:endParaRPr sz="130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EC4899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F3F4F6"/>
                </a:solidFill>
                <a:latin typeface="Arial" panose="020B0604020202020204"/>
              </a:rPr>
              <a:t>AI tracks behavioral metrics in real-time:</a:t>
            </a:r>
            <a:endParaRPr sz="130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EC4899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F3F4F6"/>
                </a:solidFill>
                <a:latin typeface="Arial" panose="020B0604020202020204"/>
              </a:rPr>
              <a:t>   Speaking Speed, Response Time, Filler Words</a:t>
            </a:r>
            <a:endParaRPr sz="130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EC4899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F3F4F6"/>
                </a:solidFill>
                <a:latin typeface="Arial" panose="020B0604020202020204"/>
              </a:rPr>
              <a:t>   Face Visibility, Face Centering, Head Movement</a:t>
            </a:r>
            <a:endParaRPr sz="130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EC4899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F3F4F6"/>
                </a:solidFill>
                <a:latin typeface="Arial" panose="020B0604020202020204"/>
              </a:rPr>
              <a:t>   Looking Away Count</a:t>
            </a:r>
            <a:endParaRPr sz="130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EC4899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F3F4F6"/>
                </a:solidFill>
                <a:latin typeface="Arial" panose="020B0604020202020204"/>
              </a:rPr>
              <a:t>Generate Final Interview Report</a:t>
            </a:r>
            <a:endParaRPr sz="130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EC4899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F3F4F6"/>
                </a:solidFill>
                <a:latin typeface="Arial" panose="020B0604020202020204"/>
              </a:rPr>
              <a:t>Download PDF Report</a:t>
            </a:r>
            <a:endParaRPr sz="130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EC4899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F3F4F6"/>
                </a:solidFill>
                <a:latin typeface="Arial" panose="020B0604020202020204"/>
              </a:rPr>
              <a:t>Session Ends — No data stored</a:t>
            </a:r>
            <a:endParaRPr sz="1300">
              <a:solidFill>
                <a:srgbClr val="F3F4F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59E0B"/>
                </a:solidFill>
                <a:latin typeface="Arial" panose="020B0604020202020204"/>
              </a:defRPr>
            </a:pPr>
            <a:r>
              <a:t>QUESTION GENERATION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D4FF"/>
                </a:solidFill>
                <a:latin typeface="Arial" panose="020B0604020202020204"/>
              </a:defRPr>
            </a:pPr>
            <a:r>
              <a:t>Technical Interview: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1208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D4FF"/>
                </a:solidFill>
                <a:latin typeface="Arial" panose="020B0604020202020204"/>
              </a:rPr>
              <a:t>•  </a:t>
            </a:r>
            <a:r>
              <a:rPr sz="1200">
                <a:solidFill>
                  <a:srgbClr val="F3F4F6"/>
                </a:solidFill>
                <a:latin typeface="Arial" panose="020B0604020202020204"/>
              </a:rPr>
              <a:t>Selected Domain + Uploaded Resume + Difficulty Level</a:t>
            </a:r>
            <a:endParaRPr sz="1200">
              <a:solidFill>
                <a:srgbClr val="F3F4F6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4937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D4FF"/>
                </a:solidFill>
                <a:latin typeface="Arial" panose="020B0604020202020204"/>
              </a:defRPr>
            </a:pPr>
            <a:r>
              <a:t>HR / Non-Technical Interview: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21208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0D4FF"/>
                </a:solidFill>
                <a:latin typeface="Arial" panose="020B0604020202020204"/>
              </a:rPr>
              <a:t>•  </a:t>
            </a:r>
            <a:r>
              <a:rPr sz="1200">
                <a:solidFill>
                  <a:srgbClr val="F3F4F6"/>
                </a:solidFill>
                <a:latin typeface="Arial" panose="020B0604020202020204"/>
              </a:rPr>
              <a:t>Uploaded Resume + General HR Questions + Difficulty Level</a:t>
            </a:r>
            <a:endParaRPr sz="1200">
              <a:solidFill>
                <a:srgbClr val="F3F4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9CA3AF"/>
                </a:solidFill>
                <a:latin typeface="Arial" panose="020B0604020202020204"/>
              </a:defRPr>
            </a:pPr>
            <a:r>
              <a:t>No Login  •  No Authentication  •  No Database  •  No Permanent Data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00D4FF"/>
                </a:solidFill>
                <a:latin typeface="Trebuchet MS" panose="020B0603020202020204"/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CA3AF"/>
                </a:solidFill>
                <a:latin typeface="Arial" panose="020B0604020202020204"/>
              </a:defRPr>
            </a:pPr>
            <a:r>
              <a:t>Scaling MockMirror Beyond Candidate Self-Practice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0B981"/>
                </a:solidFill>
                <a:latin typeface="Arial" panose="020B0604020202020204"/>
              </a:defRPr>
            </a:pPr>
            <a:r>
              <a:t>CURRENT VERSION (Candidate Mode)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10B981"/>
                </a:solidFill>
                <a:latin typeface="Arial" panose="020B0604020202020204"/>
              </a:rPr>
              <a:t>•  Self-Practice: </a:t>
            </a:r>
            <a:r>
              <a:rPr sz="1300" b="0">
                <a:solidFill>
                  <a:srgbClr val="F3F4F6"/>
                </a:solidFill>
                <a:latin typeface="Arial" panose="020B0604020202020204"/>
              </a:rPr>
              <a:t>Candidate uploads resume, selects domain &amp; difficulty, and practices independently with AI.</a:t>
            </a:r>
            <a:endParaRPr sz="1300" b="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10B981"/>
                </a:solidFill>
                <a:latin typeface="Arial" panose="020B0604020202020204"/>
              </a:rPr>
              <a:t>•  AI-Generated Questions: </a:t>
            </a:r>
            <a:r>
              <a:rPr sz="1300" b="0">
                <a:solidFill>
                  <a:srgbClr val="F3F4F6"/>
                </a:solidFill>
                <a:latin typeface="Arial" panose="020B0604020202020204"/>
              </a:rPr>
              <a:t>Questions are auto-generated based on resume, domain, and difficulty level.</a:t>
            </a:r>
            <a:endParaRPr sz="1300" b="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10B981"/>
                </a:solidFill>
                <a:latin typeface="Arial" panose="020B0604020202020204"/>
              </a:rPr>
              <a:t>•  Behavioral Tracking: </a:t>
            </a:r>
            <a:r>
              <a:rPr sz="1300" b="0">
                <a:solidFill>
                  <a:srgbClr val="F3F4F6"/>
                </a:solidFill>
                <a:latin typeface="Arial" panose="020B0604020202020204"/>
              </a:rPr>
              <a:t>Face detection and posture tracking provide visual behavior feedback.</a:t>
            </a:r>
            <a:endParaRPr sz="1300" b="0">
              <a:solidFill>
                <a:srgbClr val="F3F4F6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EC4899"/>
                </a:solidFill>
                <a:latin typeface="Arial" panose="020B0604020202020204"/>
              </a:defRPr>
            </a:pPr>
            <a:r>
              <a:t>FUTURE VERSION (Interviewer Mode)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EC4899"/>
                </a:solidFill>
                <a:latin typeface="Arial" panose="020B0604020202020204"/>
              </a:rPr>
              <a:t>•  Interviewer Dashboard: </a:t>
            </a:r>
            <a:r>
              <a:rPr sz="1300" b="0">
                <a:solidFill>
                  <a:srgbClr val="F3F4F6"/>
                </a:solidFill>
                <a:latin typeface="Arial" panose="020B0604020202020204"/>
              </a:rPr>
              <a:t>The interviewer selects topics and uploads custom data/syllabus for the AI to prepare questions from.</a:t>
            </a:r>
            <a:endParaRPr sz="1300" b="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EC4899"/>
                </a:solidFill>
                <a:latin typeface="Arial" panose="020B0604020202020204"/>
              </a:rPr>
              <a:t>•  AI Conducts on Behalf: </a:t>
            </a:r>
            <a:r>
              <a:rPr sz="1300" b="0">
                <a:solidFill>
                  <a:srgbClr val="F3F4F6"/>
                </a:solidFill>
                <a:latin typeface="Arial" panose="020B0604020202020204"/>
              </a:rPr>
              <a:t>The AI interviews the candidate on behalf of the interviewer using the provided material.</a:t>
            </a:r>
            <a:endParaRPr sz="1300" b="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EC4899"/>
                </a:solidFill>
                <a:latin typeface="Arial" panose="020B0604020202020204"/>
              </a:rPr>
              <a:t>•  Automated Candidate Reports: </a:t>
            </a:r>
            <a:r>
              <a:rPr sz="1300" b="0">
                <a:solidFill>
                  <a:srgbClr val="F3F4F6"/>
                </a:solidFill>
                <a:latin typeface="Arial" panose="020B0604020202020204"/>
              </a:rPr>
              <a:t>The interviewer receives a detailed performance report of each candidate without being present.</a:t>
            </a:r>
            <a:endParaRPr sz="1300" b="0">
              <a:solidFill>
                <a:srgbClr val="F3F4F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9CA3AF"/>
                </a:solidFill>
                <a:latin typeface="Arial" panose="020B0604020202020204"/>
              </a:defRPr>
            </a:pPr>
            <a:r>
              <a:t>ADDITIONAL FUTURE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400" b="1">
                <a:solidFill>
                  <a:srgbClr val="8B5CF6"/>
                </a:solidFill>
                <a:latin typeface="Arial" panose="020B0604020202020204"/>
              </a:rPr>
              <a:t>•  Sentiment &amp; Stress Analysis: </a:t>
            </a:r>
            <a:r>
              <a:rPr sz="1200" b="0">
                <a:solidFill>
                  <a:srgbClr val="F3F4F6"/>
                </a:solidFill>
                <a:latin typeface="Arial" panose="020B0604020202020204"/>
              </a:rPr>
              <a:t>Detect micro-expressions to assess confidence and stress in real-time.</a:t>
            </a:r>
            <a:endParaRPr sz="1200" b="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400" b="1">
                <a:solidFill>
                  <a:srgbClr val="8B5CF6"/>
                </a:solidFill>
                <a:latin typeface="Arial" panose="020B0604020202020204"/>
              </a:rPr>
              <a:t>•  Live Coding Whiteboard: </a:t>
            </a:r>
            <a:r>
              <a:rPr sz="1200" b="0">
                <a:solidFill>
                  <a:srgbClr val="F3F4F6"/>
                </a:solidFill>
                <a:latin typeface="Arial" panose="020B0604020202020204"/>
              </a:rPr>
              <a:t>Integrate browser-based coding environments for technical screening.</a:t>
            </a:r>
            <a:endParaRPr sz="1200" b="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400" b="1">
                <a:solidFill>
                  <a:srgbClr val="8B5CF6"/>
                </a:solidFill>
                <a:latin typeface="Arial" panose="020B0604020202020204"/>
              </a:rPr>
              <a:t>•  Multi-Language &amp; Accent Coaching: </a:t>
            </a:r>
            <a:r>
              <a:rPr sz="1200" b="0">
                <a:solidFill>
                  <a:srgbClr val="F3F4F6"/>
                </a:solidFill>
                <a:latin typeface="Arial" panose="020B0604020202020204"/>
              </a:rPr>
              <a:t>Support regional languages and accent improvement modules.</a:t>
            </a:r>
            <a:endParaRPr sz="1200" b="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400" b="1">
                <a:solidFill>
                  <a:srgbClr val="8B5CF6"/>
                </a:solidFill>
                <a:latin typeface="Arial" panose="020B0604020202020204"/>
              </a:rPr>
              <a:t>•  LMS &amp; Placement Cell Integration: </a:t>
            </a:r>
            <a:r>
              <a:rPr sz="1200" b="0">
                <a:solidFill>
                  <a:srgbClr val="F3F4F6"/>
                </a:solidFill>
                <a:latin typeface="Arial" panose="020B0604020202020204"/>
              </a:rPr>
              <a:t>License MockMirror to universities and corporate HR portals.</a:t>
            </a:r>
            <a:endParaRPr sz="1200" b="0">
              <a:solidFill>
                <a:srgbClr val="F3F4F6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00D4FF"/>
                </a:solidFill>
                <a:latin typeface="Trebuchet MS" panose="020B0603020202020204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CA3AF"/>
                </a:solidFill>
                <a:latin typeface="Arial" panose="020B0604020202020204"/>
              </a:defRPr>
            </a:pPr>
            <a:r>
              <a:t>Built with Modern, Privacy-First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8B5CF6"/>
                </a:solidFill>
                <a:latin typeface="Arial" panose="020B0604020202020204"/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D4FF"/>
                </a:solidFill>
                <a:latin typeface="Arial" panose="020B0604020202020204"/>
              </a:rPr>
              <a:t>•  React 19 + Vite: </a:t>
            </a:r>
            <a:r>
              <a:rPr sz="1300" b="0">
                <a:solidFill>
                  <a:srgbClr val="F3F4F6"/>
                </a:solidFill>
                <a:latin typeface="Arial" panose="020B0604020202020204"/>
              </a:rPr>
              <a:t>Fast, modern UI framework with hot module replacement.</a:t>
            </a:r>
            <a:endParaRPr sz="1300" b="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D4FF"/>
                </a:solidFill>
                <a:latin typeface="Arial" panose="020B0604020202020204"/>
              </a:rPr>
              <a:t>•  Web Speech API: </a:t>
            </a:r>
            <a:r>
              <a:rPr sz="1300" b="0">
                <a:solidFill>
                  <a:srgbClr val="F3F4F6"/>
                </a:solidFill>
                <a:latin typeface="Arial" panose="020B0604020202020204"/>
              </a:rPr>
              <a:t>Browser-native Speech-to-Text and Text-to-Speech.</a:t>
            </a:r>
            <a:endParaRPr sz="1300" b="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D4FF"/>
                </a:solidFill>
                <a:latin typeface="Arial" panose="020B0604020202020204"/>
              </a:rPr>
              <a:t>•  OpenCV.js + MediaPipe: </a:t>
            </a:r>
            <a:r>
              <a:rPr sz="1300" b="0">
                <a:solidFill>
                  <a:srgbClr val="F3F4F6"/>
                </a:solidFill>
                <a:latin typeface="Arial" panose="020B0604020202020204"/>
              </a:rPr>
              <a:t>Client-side face detection, gaze tracking, posture analysis.</a:t>
            </a:r>
            <a:endParaRPr sz="1300" b="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D4FF"/>
                </a:solidFill>
                <a:latin typeface="Arial" panose="020B0604020202020204"/>
              </a:rPr>
              <a:t>•  jsPDF + html2canvas: </a:t>
            </a:r>
            <a:r>
              <a:rPr sz="1300" b="0">
                <a:solidFill>
                  <a:srgbClr val="F3F4F6"/>
                </a:solidFill>
                <a:latin typeface="Arial" panose="020B0604020202020204"/>
              </a:rPr>
              <a:t>Client-side PDF report generation and visual export.</a:t>
            </a:r>
            <a:endParaRPr sz="1300" b="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D4FF"/>
                </a:solidFill>
                <a:latin typeface="Arial" panose="020B0604020202020204"/>
              </a:rPr>
              <a:t>•  Custom CSS: </a:t>
            </a:r>
            <a:r>
              <a:rPr sz="1300" b="0">
                <a:solidFill>
                  <a:srgbClr val="F3F4F6"/>
                </a:solidFill>
                <a:latin typeface="Arial" panose="020B0604020202020204"/>
              </a:rPr>
              <a:t>Hand-crafted glassmorphism dark theme with animations.</a:t>
            </a:r>
            <a:endParaRPr sz="1300" b="0">
              <a:solidFill>
                <a:srgbClr val="F3F4F6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8B5CF6"/>
                </a:solidFill>
                <a:latin typeface="Arial" panose="020B0604020202020204"/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D4FF"/>
                </a:solidFill>
                <a:latin typeface="Arial" panose="020B0604020202020204"/>
              </a:rPr>
              <a:t>•  Node.js + Express.js: </a:t>
            </a:r>
            <a:r>
              <a:rPr sz="1300" b="0">
                <a:solidFill>
                  <a:srgbClr val="F3F4F6"/>
                </a:solidFill>
                <a:latin typeface="Arial" panose="020B0604020202020204"/>
              </a:rPr>
              <a:t>Lightweight, fast REST API server.</a:t>
            </a:r>
            <a:endParaRPr sz="1300" b="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D4FF"/>
                </a:solidFill>
                <a:latin typeface="Arial" panose="020B0604020202020204"/>
              </a:rPr>
              <a:t>•  Google Gemini API: </a:t>
            </a:r>
            <a:r>
              <a:rPr sz="1300" b="0">
                <a:solidFill>
                  <a:srgbClr val="F3F4F6"/>
                </a:solidFill>
                <a:latin typeface="Arial" panose="020B0604020202020204"/>
              </a:rPr>
              <a:t>gemini-2.0-flash for dynamic question generation &amp; evaluation.</a:t>
            </a:r>
            <a:endParaRPr sz="1300" b="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D4FF"/>
                </a:solidFill>
                <a:latin typeface="Arial" panose="020B0604020202020204"/>
              </a:rPr>
              <a:t>•  Multer + pdf-parse: </a:t>
            </a:r>
            <a:r>
              <a:rPr sz="1300" b="0">
                <a:solidFill>
                  <a:srgbClr val="F3F4F6"/>
                </a:solidFill>
                <a:latin typeface="Arial" panose="020B0604020202020204"/>
              </a:rPr>
              <a:t>In-memory PDF resume parsing (zero disk storage).</a:t>
            </a:r>
            <a:endParaRPr sz="1300" b="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D4FF"/>
                </a:solidFill>
                <a:latin typeface="Arial" panose="020B0604020202020204"/>
              </a:rPr>
              <a:t>•  Session-Based Architecture: </a:t>
            </a:r>
            <a:r>
              <a:rPr sz="1300" b="0">
                <a:solidFill>
                  <a:srgbClr val="F3F4F6"/>
                </a:solidFill>
                <a:latin typeface="Arial" panose="020B0604020202020204"/>
              </a:rPr>
              <a:t>No database, no authentication, no permanent storage.</a:t>
            </a:r>
            <a:endParaRPr sz="1300" b="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D4FF"/>
                </a:solidFill>
                <a:latin typeface="Arial" panose="020B0604020202020204"/>
              </a:rPr>
              <a:t>•  dotenv: </a:t>
            </a:r>
            <a:r>
              <a:rPr sz="1300" b="0">
                <a:solidFill>
                  <a:srgbClr val="F3F4F6"/>
                </a:solidFill>
                <a:latin typeface="Arial" panose="020B0604020202020204"/>
              </a:rPr>
              <a:t>Secure environment variable management for API keys.</a:t>
            </a:r>
            <a:endParaRPr sz="1300" b="0">
              <a:solidFill>
                <a:srgbClr val="F3F4F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9CA3AF"/>
                </a:solidFill>
                <a:latin typeface="Arial" panose="020B0604020202020204"/>
              </a:defRPr>
            </a:pPr>
            <a:r>
              <a:t>KEY ARCHITECTURE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100% Privacy: </a:t>
            </a:r>
            <a:r>
              <a:rPr sz="1200" b="0">
                <a:solidFill>
                  <a:srgbClr val="F3F4F6"/>
                </a:solidFill>
                <a:latin typeface="Arial" panose="020B0604020202020204"/>
              </a:rPr>
              <a:t>No database. No login. Resume parsed in-memory and discarded after session.</a:t>
            </a:r>
            <a:endParaRPr sz="1200" b="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Client-Side Vision: </a:t>
            </a:r>
            <a:r>
              <a:rPr sz="1200" b="0">
                <a:solidFill>
                  <a:srgbClr val="F3F4F6"/>
                </a:solidFill>
                <a:latin typeface="Arial" panose="020B0604020202020204"/>
              </a:rPr>
              <a:t>All camera processing runs locally — video never leaves the user's device.</a:t>
            </a:r>
            <a:endParaRPr sz="1200" b="0">
              <a:solidFill>
                <a:srgbClr val="F3F4F6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Zero Friction: </a:t>
            </a:r>
            <a:r>
              <a:rPr sz="1200" b="0">
                <a:solidFill>
                  <a:srgbClr val="F3F4F6"/>
                </a:solidFill>
                <a:latin typeface="Arial" panose="020B0604020202020204"/>
              </a:rPr>
              <a:t>Open website -&gt; Upload resume -&gt; Start practicing. Ready in under 60 seconds.</a:t>
            </a:r>
            <a:endParaRPr sz="1200" b="0">
              <a:solidFill>
                <a:srgbClr val="F3F4F6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ckmirror_logo_178595092273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548640"/>
            <a:ext cx="3840480" cy="2194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01752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00D4FF"/>
                </a:solidFill>
                <a:latin typeface="Trebuchet MS" panose="020B0603020202020204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8B5CF6"/>
                </a:solidFill>
                <a:latin typeface="Trebuchet MS" panose="020B0603020202020204"/>
              </a:defRPr>
            </a:pPr>
            <a:r>
              <a:t>MOCKMIRROR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F3F4F6"/>
                </a:solidFill>
                <a:latin typeface="Arial" panose="020B0604020202020204"/>
              </a:defRPr>
            </a:pPr>
            <a:r>
              <a:t>Practice Smart. Interview Confident.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9CA3AF"/>
                </a:solidFill>
                <a:latin typeface="Arial" panose="020B0604020202020204"/>
              </a:defRPr>
            </a:pPr>
            <a:r>
              <a:t>We are ready for your 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5796</Words>
  <Application>WPS Presentation</Application>
  <PresentationFormat>On-screen Show (4:3)</PresentationFormat>
  <Paragraphs>134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Arial</vt:lpstr>
      <vt:lpstr>Trebuchet MS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Yash Prajapati</cp:lastModifiedBy>
  <cp:revision>2</cp:revision>
  <dcterms:created xsi:type="dcterms:W3CDTF">2013-01-27T09:14:00Z</dcterms:created>
  <dcterms:modified xsi:type="dcterms:W3CDTF">2026-08-05T17:43:24Z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D1E6D9A3F6F8486D94B392D1203D1138_12</vt:lpwstr>
  </property>
  <property fmtid="{D5CDD505-2E9C-101B-9397-08002B2CF9AE}" pid="3" name="KSOProductBuildVer">
    <vt:lpwstr>2057-12.2.0.23206</vt:lpwstr>
  </property>
</Properties>
</file>