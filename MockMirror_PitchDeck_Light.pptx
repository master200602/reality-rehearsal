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5029200" cy="66019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ckmirror_logo_light_17861130305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347472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01752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312E81"/>
                </a:solidFill>
                <a:latin typeface="Segoe UI"/>
              </a:defRPr>
            </a:pPr>
            <a:r>
              <a:t>MockMirror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D9488"/>
                </a:solidFill>
                <a:latin typeface="Segoe UI"/>
              </a:defRPr>
            </a:pPr>
            <a:r>
              <a:t>Practice. Reflect. Improve.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Segoe UI"/>
              </a:defRPr>
            </a:pPr>
            <a:r>
              <a:t>AI-Powered Multimodal Interview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097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12E81"/>
                </a:solidFill>
                <a:latin typeface="Segoe UI"/>
              </a:defRPr>
            </a:pPr>
            <a:r>
              <a:t>TEAM MEMBERS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554480"/>
            <a:ext cx="502920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0" y="192024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0195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Member 1 Name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XXXXXXXXXX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0" y="297180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95351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Member 2 Name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XXXXXXXXXX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0" y="402336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00507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Member 3 Name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XXXXXXXXXX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507492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056632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/>
              </a:defRPr>
            </a:pPr>
            <a:r>
              <a:t>Member 4 Name</a:t>
            </a:r>
          </a:p>
          <a:p>
            <a:pPr algn="l">
              <a:defRPr sz="1200">
                <a:solidFill>
                  <a:srgbClr val="6B7280"/>
                </a:solidFill>
                <a:latin typeface="Segoe UI"/>
              </a:defRPr>
            </a:pPr>
            <a:r>
              <a:t>Enrollment: XXXXXXXXXX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Why Traditional Interview Preparation Fails Students &amp; Job Seekers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2588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6015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▸  Placement &amp; Job Interview Anxiety:  </a:t>
            </a:r>
            <a:r>
              <a:rPr sz="1500" b="0">
                <a:solidFill>
                  <a:srgbClr val="1F2937"/>
                </a:solidFill>
                <a:latin typeface="Segoe UI"/>
              </a:rPr>
              <a:t>Students and freshers face extreme nervousness during campus placements and job interviews due to lack of real practice with a live interviewer.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▸  Hesitation While Speaking:  </a:t>
            </a:r>
            <a:r>
              <a:rPr sz="1500" b="0">
                <a:solidFill>
                  <a:srgbClr val="1F2937"/>
                </a:solidFill>
                <a:latin typeface="Segoe UI"/>
              </a:rPr>
              <a:t>Many candidates know the answers but freeze, stutter, or hesitate when speaking out loud, leading to poor first impressions and missed opportunities.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▸  Unknown Question Patterns:  </a:t>
            </a:r>
            <a:r>
              <a:rPr sz="1500" b="0">
                <a:solidFill>
                  <a:srgbClr val="1F2937"/>
                </a:solidFill>
                <a:latin typeface="Segoe UI"/>
              </a:rPr>
              <a:t>Candidates have no idea what type of questions will be asked — technical, behavioral, situational, or resume-based — and cannot prepare effectively.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▸  No Feedback on Body Language:  </a:t>
            </a:r>
            <a:r>
              <a:rPr sz="1500" b="0">
                <a:solidFill>
                  <a:srgbClr val="1F2937"/>
                </a:solidFill>
                <a:latin typeface="Segoe UI"/>
              </a:rPr>
              <a:t>Traditional preparation completely ignores facial expressions, eye contact, posture, and head movement — all critical factors interviewers silently evaluate.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▸  Static &amp; Scripted Mock Tools:  </a:t>
            </a:r>
            <a:r>
              <a:rPr sz="1500" b="0">
                <a:solidFill>
                  <a:srgbClr val="1F2937"/>
                </a:solidFill>
                <a:latin typeface="Segoe UI"/>
              </a:rPr>
              <a:t>Existing tools provide pre-written Q&amp;As that don't adapt to a candidate's actual resume, spoken answers, or real-time performance.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EF4444"/>
                </a:solidFill>
                <a:latin typeface="Segoe UI"/>
              </a:rPr>
              <a:t>▸  No Safe Practice Environment: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There is no affordable, private, judgment-free space where candidates can repeatedly practice and improve before the real interview.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Our Solution — MockMirror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0D9488"/>
                </a:solidFill>
                <a:latin typeface="Segoe UI"/>
              </a:defRPr>
            </a:pPr>
            <a:r>
              <a:t>Practice. Reflect. Improve.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0B981"/>
                </a:solidFill>
                <a:latin typeface="Segoe UI"/>
              </a:rPr>
              <a:t>▸  AI-Powered Conversational Practice:  </a:t>
            </a:r>
            <a:r>
              <a:rPr sz="1500" b="0">
                <a:solidFill>
                  <a:srgbClr val="1F2937"/>
                </a:solidFill>
                <a:latin typeface="Segoe UI"/>
              </a:rPr>
              <a:t>Candidates visit our website and practice for their interviews by having a real-time voice conversation with our AI interviewer — just like a real interview.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0B981"/>
                </a:solidFill>
                <a:latin typeface="Segoe UI"/>
              </a:rPr>
              <a:t>▸  Resume-Based Personalized Questions:  </a:t>
            </a:r>
            <a:r>
              <a:rPr sz="1500" b="0">
                <a:solidFill>
                  <a:srgbClr val="1F2937"/>
                </a:solidFill>
                <a:latin typeface="Segoe UI"/>
              </a:rPr>
              <a:t>Upload your PDF resume, and the AI reads your skills, projects, and experience to ask highly targeted and relevant questions.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0B981"/>
                </a:solidFill>
                <a:latin typeface="Segoe UI"/>
              </a:rPr>
              <a:t>▸  Real-Time Answer Evaluation:  </a:t>
            </a:r>
            <a:r>
              <a:rPr sz="1500" b="0">
                <a:solidFill>
                  <a:srgbClr val="1F2937"/>
                </a:solidFill>
                <a:latin typeface="Segoe UI"/>
              </a:rPr>
              <a:t>The AI doesn't just ask questions — it analyzes every answer for correctness, depth, and relevance. If an answer is fake or vague, it immediately corrects the candidate.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0B981"/>
                </a:solidFill>
                <a:latin typeface="Segoe UI"/>
              </a:rPr>
              <a:t>▸  Face Expression &amp; Posture Detection:  </a:t>
            </a:r>
            <a:r>
              <a:rPr sz="1500" b="0">
                <a:solidFill>
                  <a:srgbClr val="1F2937"/>
                </a:solidFill>
                <a:latin typeface="Segoe UI"/>
              </a:rPr>
              <a:t>Using the browser camera, MockMirror tracks facial expressions, face centering, eye contact, and head posture — providing feedback on physical presentation.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700" b="1">
                <a:solidFill>
                  <a:srgbClr val="10B981"/>
                </a:solidFill>
                <a:latin typeface="Segoe UI"/>
              </a:rPr>
              <a:t>▸  Comprehensive Performance Report:  </a:t>
            </a:r>
            <a:r>
              <a:rPr sz="1500" b="0">
                <a:solidFill>
                  <a:srgbClr val="1F2937"/>
                </a:solidFill>
                <a:latin typeface="Segoe UI"/>
              </a:rPr>
              <a:t>A detailed report is generated with scores across technical accuracy, communication, confidence, and behavioral metrics — downloadable as PDF.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User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B7280"/>
                </a:solidFill>
                <a:latin typeface="Segoe UI"/>
              </a:defRPr>
            </a:pPr>
            <a:r>
              <a:t>How a Candidate Uses MockMirror — Complete Step-by-Step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15568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1786112946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114300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Scaling MockMirror Beyond Candidate Self-Practice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2377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Segoe UI"/>
              </a:defRPr>
            </a:pPr>
            <a:r>
              <a:t>✅  CURRENT VERSION (Candidate 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▸  Self-Practice:  </a:t>
            </a:r>
            <a:r>
              <a:rPr sz="1200" b="0">
                <a:solidFill>
                  <a:srgbClr val="1F2937"/>
                </a:solidFill>
                <a:latin typeface="Segoe UI"/>
              </a:rPr>
              <a:t>Candidate uploads resume, selects domain &amp; difficulty, practices independently.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▸  AI-Generated Questions:  </a:t>
            </a:r>
            <a:r>
              <a:rPr sz="1200" b="0">
                <a:solidFill>
                  <a:srgbClr val="1F2937"/>
                </a:solidFill>
                <a:latin typeface="Segoe UI"/>
              </a:rPr>
              <a:t>Questions auto-generated based on resume, domain, and difficulty.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/>
              </a:rPr>
              <a:t>▸  Behavioral Tracking:  </a:t>
            </a:r>
            <a:r>
              <a:rPr sz="1200" b="0">
                <a:solidFill>
                  <a:srgbClr val="1F2937"/>
                </a:solidFill>
                <a:latin typeface="Segoe UI"/>
              </a:rPr>
              <a:t>Face detection and posture tracking provide visual behavior feedback.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2377440"/>
          </a:xfrm>
          <a:prstGeom prst="roundRect">
            <a:avLst/>
          </a:prstGeom>
          <a:solidFill>
            <a:srgbClr val="FDF2F8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C4899"/>
                </a:solidFill>
                <a:latin typeface="Segoe UI"/>
              </a:defRPr>
            </a:pPr>
            <a:r>
              <a:t>🚀  FUTURE VERSION (Interviewer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/>
              </a:rPr>
              <a:t>▸  Interviewer Dashboard:  </a:t>
            </a:r>
            <a:r>
              <a:rPr sz="1200" b="0">
                <a:solidFill>
                  <a:srgbClr val="1F2937"/>
                </a:solidFill>
                <a:latin typeface="Segoe UI"/>
              </a:rPr>
              <a:t>Interviewer selects topics and uploads syllabus for AI to prepare questions.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/>
              </a:rPr>
              <a:t>▸  AI Conducts on Behalf:  </a:t>
            </a:r>
            <a:r>
              <a:rPr sz="1200" b="0">
                <a:solidFill>
                  <a:srgbClr val="1F2937"/>
                </a:solidFill>
                <a:latin typeface="Segoe UI"/>
              </a:rPr>
              <a:t>AI interviews candidates on behalf of the interviewer using provided material.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/>
              </a:rPr>
              <a:t>▸  Automated Reports:  </a:t>
            </a:r>
            <a:r>
              <a:rPr sz="1200" b="0">
                <a:solidFill>
                  <a:srgbClr val="1F2937"/>
                </a:solidFill>
                <a:latin typeface="Segoe UI"/>
              </a:rPr>
              <a:t>Interviewer receives detailed candidate performance reports automatically.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7C3AED"/>
                </a:solidFill>
                <a:latin typeface="Segoe UI"/>
              </a:defRPr>
            </a:pPr>
            <a:r>
              <a:t>Additional 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 Sentiment &amp; Stress Analysis:  </a:t>
            </a:r>
            <a:r>
              <a:rPr sz="1200" b="0">
                <a:solidFill>
                  <a:srgbClr val="1F2937"/>
                </a:solidFill>
                <a:latin typeface="Segoe UI"/>
              </a:rPr>
              <a:t>Detect micro-expressions to assess confidence and stress in real-time.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 Live Coding Whiteboard:  </a:t>
            </a:r>
            <a:r>
              <a:rPr sz="1200" b="0">
                <a:solidFill>
                  <a:srgbClr val="1F2937"/>
                </a:solidFill>
                <a:latin typeface="Segoe UI"/>
              </a:rPr>
              <a:t>Integrate browser-based coding environments for technical screening.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 Multi-Language Support:  </a:t>
            </a:r>
            <a:r>
              <a:rPr sz="1200" b="0">
                <a:solidFill>
                  <a:srgbClr val="1F2937"/>
                </a:solidFill>
                <a:latin typeface="Segoe UI"/>
              </a:rPr>
              <a:t>Support regional languages and accent improvement coaching modules.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/>
              </a:rPr>
              <a:t>▸  LMS &amp; Placement Cell Integration:  </a:t>
            </a:r>
            <a:r>
              <a:rPr sz="1200" b="0">
                <a:solidFill>
                  <a:srgbClr val="1F2937"/>
                </a:solidFill>
                <a:latin typeface="Segoe UI"/>
              </a:rPr>
              <a:t>License MockMirror to universities and corporate HR portals.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B7280"/>
                </a:solidFill>
                <a:latin typeface="Segoe UI"/>
              </a:defRPr>
            </a:pPr>
            <a:r>
              <a:t>Built with Modern, Privacy-First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ch_stack_logos_1786113007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532120"/>
            <a:ext cx="10698480" cy="960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9488"/>
                </a:solidFill>
                <a:latin typeface="Segoe UI"/>
              </a:defRPr>
            </a:pPr>
            <a:r>
              <a:t>🔒 100% Privacy — No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Segoe UI"/>
              </a:defRPr>
            </a:pPr>
            <a:r>
              <a:t>No login. Resume parsed in-memory.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623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9488"/>
                </a:solidFill>
                <a:latin typeface="Segoe UI"/>
              </a:defRPr>
            </a:pPr>
            <a:r>
              <a:t>📷 Client-Side Vision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943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Segoe UI"/>
              </a:defRPr>
            </a:pPr>
            <a:r>
              <a:t>Video never leaves user's device.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9488"/>
                </a:solidFill>
                <a:latin typeface="Segoe UI"/>
              </a:defRPr>
            </a:pPr>
            <a:r>
              <a:t>⚡ Zero Friction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Segoe UI"/>
              </a:defRPr>
            </a:pPr>
            <a:r>
              <a:t>Ready in under 60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ckmirror_logo_light_17861130305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457200"/>
            <a:ext cx="45720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312E81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0D9488"/>
                </a:solidFill>
                <a:latin typeface="Segoe UI"/>
              </a:defRPr>
            </a:pPr>
            <a:r>
              <a:t>MockMirror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6B7280"/>
                </a:solidFill>
                <a:latin typeface="Segoe UI"/>
              </a:defRPr>
            </a:pPr>
            <a:r>
              <a:t>Practice. Reflect. Improve.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937760"/>
            <a:ext cx="210312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1F2937"/>
                </a:solidFill>
                <a:latin typeface="Segoe UI"/>
              </a:defRPr>
            </a:pPr>
            <a:r>
              <a:t>We are ready for your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