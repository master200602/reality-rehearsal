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5303520" cy="6638544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ckmirror_logo_light_17861130305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402336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0175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312E81"/>
                </a:solidFill>
                <a:latin typeface="Segoe UI"/>
              </a:defRPr>
            </a:pPr>
            <a:r>
              <a:t>MockMirror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0D9488"/>
                </a:solidFill>
                <a:latin typeface="Segoe UI"/>
              </a:defRPr>
            </a:pPr>
            <a:r>
              <a:t>Practice. Reflect. Improve.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B7280"/>
                </a:solidFill>
                <a:latin typeface="Segoe UI"/>
              </a:defRPr>
            </a:pPr>
            <a:r>
              <a:t>AI-Powered Multimodal Interview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097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12E81"/>
                </a:solidFill>
                <a:latin typeface="Segoe UI"/>
              </a:defRPr>
            </a:pPr>
            <a:r>
              <a:t>TEAM MEMBERS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508760"/>
            <a:ext cx="4572000" cy="320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43600" y="182880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105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2937"/>
                </a:solidFill>
                <a:latin typeface="Segoe UI"/>
              </a:defRPr>
            </a:pPr>
            <a:r>
              <a:t>Member 1 Name</a:t>
            </a:r>
          </a:p>
          <a:p>
            <a:pPr algn="l">
              <a:defRPr sz="1200">
                <a:solidFill>
                  <a:srgbClr val="6B7280"/>
                </a:solidFill>
                <a:latin typeface="Segoe UI"/>
              </a:defRPr>
            </a:pPr>
            <a:r>
              <a:t>Enrollment: XXXXXXXXXX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0" y="288036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8620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2937"/>
                </a:solidFill>
                <a:latin typeface="Segoe UI"/>
              </a:defRPr>
            </a:pPr>
            <a:r>
              <a:t>Member 2 Name</a:t>
            </a:r>
          </a:p>
          <a:p>
            <a:pPr algn="l">
              <a:defRPr sz="1200">
                <a:solidFill>
                  <a:srgbClr val="6B7280"/>
                </a:solidFill>
                <a:latin typeface="Segoe UI"/>
              </a:defRPr>
            </a:pPr>
            <a:r>
              <a:t>Enrollment: XXXXXXXXXX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393192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9136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2937"/>
                </a:solidFill>
                <a:latin typeface="Segoe UI"/>
              </a:defRPr>
            </a:pPr>
            <a:r>
              <a:t>Member 3 Name</a:t>
            </a:r>
          </a:p>
          <a:p>
            <a:pPr algn="l">
              <a:defRPr sz="1200">
                <a:solidFill>
                  <a:srgbClr val="6B7280"/>
                </a:solidFill>
                <a:latin typeface="Segoe UI"/>
              </a:defRPr>
            </a:pPr>
            <a:r>
              <a:t>Enrollment: XXXXXXXXXX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0" y="4983479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96519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2937"/>
                </a:solidFill>
                <a:latin typeface="Segoe UI"/>
              </a:defRPr>
            </a:pPr>
            <a:r>
              <a:t>Member 4 Name</a:t>
            </a:r>
          </a:p>
          <a:p>
            <a:pPr algn="l">
              <a:defRPr sz="1200">
                <a:solidFill>
                  <a:srgbClr val="6B7280"/>
                </a:solidFill>
                <a:latin typeface="Segoe UI"/>
              </a:defRPr>
            </a:pPr>
            <a:r>
              <a:t>Enrollment: XXXXXXXXXX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312E81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B7280"/>
                </a:solidFill>
                <a:latin typeface="Segoe UI"/>
              </a:defRPr>
            </a:pPr>
            <a:r>
              <a:t>Why Interview Preparation is Broken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34440"/>
            <a:ext cx="1828800" cy="3200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601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EF4444"/>
                </a:solidFill>
                <a:latin typeface="Segoe UI"/>
              </a:rPr>
              <a:t>•  Placement &amp; Job Interview Anxiety:  </a:t>
            </a:r>
            <a:r>
              <a:rPr sz="1500" b="0">
                <a:solidFill>
                  <a:srgbClr val="1F2937"/>
                </a:solidFill>
                <a:latin typeface="Segoe UI"/>
              </a:rPr>
              <a:t>Students and freshers face extreme nervousness during campus placements and job interviews due to lack of real practice with a live interviewer.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EF4444"/>
                </a:solidFill>
                <a:latin typeface="Segoe UI"/>
              </a:rPr>
              <a:t>•  Hesitation While Speaking:  </a:t>
            </a:r>
            <a:r>
              <a:rPr sz="1500" b="0">
                <a:solidFill>
                  <a:srgbClr val="1F2937"/>
                </a:solidFill>
                <a:latin typeface="Segoe UI"/>
              </a:rPr>
              <a:t>Many candidates know the answers but freeze, stutter, or hesitate when speaking out loud, leading to poor first impressions.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EF4444"/>
                </a:solidFill>
                <a:latin typeface="Segoe UI"/>
              </a:rPr>
              <a:t>•  Unknown Question Patterns:  </a:t>
            </a:r>
            <a:r>
              <a:rPr sz="1500" b="0">
                <a:solidFill>
                  <a:srgbClr val="1F2937"/>
                </a:solidFill>
                <a:latin typeface="Segoe UI"/>
              </a:rPr>
              <a:t>Candidates have no idea what type of questions will be asked — technical, behavioral, situational, or resume-based — and cannot prepare effectively.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EF4444"/>
                </a:solidFill>
                <a:latin typeface="Segoe UI"/>
              </a:rPr>
              <a:t>•  No Feedback on Body Language:  </a:t>
            </a:r>
            <a:r>
              <a:rPr sz="1500" b="0">
                <a:solidFill>
                  <a:srgbClr val="1F2937"/>
                </a:solidFill>
                <a:latin typeface="Segoe UI"/>
              </a:rPr>
              <a:t>Traditional preparation ignores facial expressions, eye contact, posture, and head movement — all critical factors interviewers silently evaluate.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EF4444"/>
                </a:solidFill>
                <a:latin typeface="Segoe UI"/>
              </a:rPr>
              <a:t>•  Static Mock Interviews:  </a:t>
            </a:r>
            <a:r>
              <a:rPr sz="1500" b="0">
                <a:solidFill>
                  <a:srgbClr val="1F2937"/>
                </a:solidFill>
                <a:latin typeface="Segoe UI"/>
              </a:rPr>
              <a:t>Existing tools provide scripted, pre-written Q&amp;As that don't adapt to a candidate's actual resume, spoken answers, or real-time performance.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EF4444"/>
                </a:solidFill>
                <a:latin typeface="Segoe UI"/>
              </a:rPr>
              <a:t>•  No Safe Practice Environment:  </a:t>
            </a:r>
            <a:r>
              <a:rPr sz="1500" b="0">
                <a:solidFill>
                  <a:srgbClr val="1F2937"/>
                </a:solidFill>
                <a:latin typeface="Segoe UI"/>
              </a:rPr>
              <a:t>There is no affordable, private, judgment-free space where candidates can repeatedly practice and improve before the real interview 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312E81"/>
                </a:solidFill>
                <a:latin typeface="Segoe UI"/>
              </a:defRPr>
            </a:pPr>
            <a:r>
              <a:t>OUR SOLUTION — MOCKMIRROR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0D9488"/>
                </a:solidFill>
                <a:latin typeface="Segoe UI"/>
              </a:defRPr>
            </a:pPr>
            <a:r>
              <a:t>Practice Smart. Interview Confident.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34440"/>
            <a:ext cx="1828800" cy="320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601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Segoe UI"/>
              </a:rPr>
              <a:t>•  AI-Powered Conversational Practice:  </a:t>
            </a:r>
            <a:r>
              <a:rPr sz="1500" b="0">
                <a:solidFill>
                  <a:srgbClr val="1F2937"/>
                </a:solidFill>
                <a:latin typeface="Segoe UI"/>
              </a:rPr>
              <a:t>Candidates visit our website and practice for their interviews by having a real-time voice conversation with our AI interviewer — just like a real interview.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Segoe UI"/>
              </a:rPr>
              <a:t>•  Resume-Based Personalized Questions:  </a:t>
            </a:r>
            <a:r>
              <a:rPr sz="1500" b="0">
                <a:solidFill>
                  <a:srgbClr val="1F2937"/>
                </a:solidFill>
                <a:latin typeface="Segoe UI"/>
              </a:rPr>
              <a:t>Upload your PDF resume, and the AI reads your skills, projects, and experience to ask highly targeted and relevant questions.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Segoe UI"/>
              </a:rPr>
              <a:t>•  Real-Time Answer Evaluation:  </a:t>
            </a:r>
            <a:r>
              <a:rPr sz="1500" b="0">
                <a:solidFill>
                  <a:srgbClr val="1F2937"/>
                </a:solidFill>
                <a:latin typeface="Segoe UI"/>
              </a:rPr>
              <a:t>The AI doesn't just ask questions — it analyzes every answer for correctness, depth, and relevance. If an answer is fake or vague, it immediately calls it out and corrects the candidate.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Segoe UI"/>
              </a:rPr>
              <a:t>•  Face Expression &amp; Posture Detection:  </a:t>
            </a:r>
            <a:r>
              <a:rPr sz="1500" b="0">
                <a:solidFill>
                  <a:srgbClr val="1F2937"/>
                </a:solidFill>
                <a:latin typeface="Segoe UI"/>
              </a:rPr>
              <a:t>Using the browser camera, MockMirror tracks facial expressions, face centering, eye contact, and head posture — providing feedback on how the candidate physically presents themselves.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Segoe UI"/>
              </a:rPr>
              <a:t>•  Comprehensive Performance Report:  </a:t>
            </a:r>
            <a:r>
              <a:rPr sz="1500" b="0">
                <a:solidFill>
                  <a:srgbClr val="1F2937"/>
                </a:solidFill>
                <a:latin typeface="Segoe UI"/>
              </a:rPr>
              <a:t>A detailed report is generated with scores across technical accuracy, communication, confidence, and behavioral metrics — downloadable as a PDF.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312E81"/>
                </a:solidFill>
                <a:latin typeface="Segoe UI"/>
              </a:defRPr>
            </a:pPr>
            <a:r>
              <a:t>USER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B7280"/>
                </a:solidFill>
                <a:latin typeface="Segoe UI"/>
              </a:defRPr>
            </a:pPr>
            <a:r>
              <a:t>How a Candidate Uses MockMirror — Step by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078992"/>
            <a:ext cx="18288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orkflow_diagram_17861170486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116128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312E81"/>
                </a:solidFill>
                <a:latin typeface="Segoe UI"/>
              </a:defRPr>
            </a:pPr>
            <a: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B7280"/>
                </a:solidFill>
                <a:latin typeface="Segoe UI"/>
              </a:defRPr>
            </a:pPr>
            <a:r>
              <a:t>Scaling MockMirror Beyond Candidate Self-Practice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34440"/>
            <a:ext cx="1828800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25603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0B981"/>
                </a:solidFill>
                <a:latin typeface="Segoe UI"/>
              </a:defRPr>
            </a:pPr>
            <a:r>
              <a:t>CURRENT VERSION (Candidate Mode)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Segoe UI"/>
              </a:rPr>
              <a:t>•  Self-Practice:  </a:t>
            </a:r>
            <a:r>
              <a:rPr sz="1300" b="0">
                <a:solidFill>
                  <a:srgbClr val="1F2937"/>
                </a:solidFill>
                <a:latin typeface="Segoe UI"/>
              </a:rPr>
              <a:t>Candidate uploads resume, selects domain &amp; difficulty, and practices independently with AI.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Segoe UI"/>
              </a:rPr>
              <a:t>•  AI-Generated Questions:  </a:t>
            </a:r>
            <a:r>
              <a:rPr sz="1300" b="0">
                <a:solidFill>
                  <a:srgbClr val="1F2937"/>
                </a:solidFill>
                <a:latin typeface="Segoe UI"/>
              </a:rPr>
              <a:t>Questions are auto-generated based on resume, domain, and difficulty level.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Segoe UI"/>
              </a:rPr>
              <a:t>•  Behavioral Tracking:  </a:t>
            </a:r>
            <a:r>
              <a:rPr sz="1300" b="0">
                <a:solidFill>
                  <a:srgbClr val="1F2937"/>
                </a:solidFill>
                <a:latin typeface="Segoe UI"/>
              </a:rPr>
              <a:t>Face detection and posture tracking provide visual behavior feedback.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2560320"/>
          </a:xfrm>
          <a:prstGeom prst="roundRect">
            <a:avLst/>
          </a:prstGeom>
          <a:solidFill>
            <a:srgbClr val="FDF2F8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C4899"/>
                </a:solidFill>
                <a:latin typeface="Segoe UI"/>
              </a:defRPr>
            </a:pPr>
            <a:r>
              <a:t>FUTURE VERSION (Interviewer Mode)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EC4899"/>
                </a:solidFill>
                <a:latin typeface="Segoe UI"/>
              </a:rPr>
              <a:t>•  Interviewer Dashboard:  </a:t>
            </a:r>
            <a:r>
              <a:rPr sz="1300" b="0">
                <a:solidFill>
                  <a:srgbClr val="1F2937"/>
                </a:solidFill>
                <a:latin typeface="Segoe UI"/>
              </a:rPr>
              <a:t>The interviewer selects topics and uploads custom data/syllabus for the AI to prepare questions from.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EC4899"/>
                </a:solidFill>
                <a:latin typeface="Segoe UI"/>
              </a:rPr>
              <a:t>•  AI Conducts on Behalf:  </a:t>
            </a:r>
            <a:r>
              <a:rPr sz="1300" b="0">
                <a:solidFill>
                  <a:srgbClr val="1F2937"/>
                </a:solidFill>
                <a:latin typeface="Segoe UI"/>
              </a:rPr>
              <a:t>The AI interviews the candidate on behalf of the interviewer using the provided material.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EC4899"/>
                </a:solidFill>
                <a:latin typeface="Segoe UI"/>
              </a:rPr>
              <a:t>•  Automated Candidate Reports:  </a:t>
            </a:r>
            <a:r>
              <a:rPr sz="1300" b="0">
                <a:solidFill>
                  <a:srgbClr val="1F2937"/>
                </a:solidFill>
                <a:latin typeface="Segoe UI"/>
              </a:rPr>
              <a:t>The interviewer receives a detailed performance report of each candidate without being present.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B7280"/>
                </a:solidFill>
                <a:latin typeface="Segoe UI"/>
              </a:defRPr>
            </a:pPr>
            <a:r>
              <a:t>ADDITIONAL FUTURE ENHANCEMENTS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617720"/>
            <a:ext cx="1371600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Segoe UI"/>
              </a:rPr>
              <a:t>•  Sentiment &amp; Stress Analysis:  </a:t>
            </a:r>
            <a:r>
              <a:rPr sz="1300" b="0">
                <a:solidFill>
                  <a:srgbClr val="1F2937"/>
                </a:solidFill>
                <a:latin typeface="Segoe UI"/>
              </a:rPr>
              <a:t>Detect micro-expressions to assess confidence and stress in real-time.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Segoe UI"/>
              </a:rPr>
              <a:t>•  Live Coding Whiteboard:  </a:t>
            </a:r>
            <a:r>
              <a:rPr sz="1300" b="0">
                <a:solidFill>
                  <a:srgbClr val="1F2937"/>
                </a:solidFill>
                <a:latin typeface="Segoe UI"/>
              </a:rPr>
              <a:t>Integrate browser-based coding environments for technical screening.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Segoe UI"/>
              </a:rPr>
              <a:t>•  Multi-Language &amp; Accent Coaching:  </a:t>
            </a:r>
            <a:r>
              <a:rPr sz="1300" b="0">
                <a:solidFill>
                  <a:srgbClr val="1F2937"/>
                </a:solidFill>
                <a:latin typeface="Segoe UI"/>
              </a:rPr>
              <a:t>Support regional languages and accent improvement modules.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Segoe UI"/>
              </a:rPr>
              <a:t>•  LMS &amp; Placement Cell Integration:  </a:t>
            </a:r>
            <a:r>
              <a:rPr sz="1300" b="0">
                <a:solidFill>
                  <a:srgbClr val="1F2937"/>
                </a:solidFill>
                <a:latin typeface="Segoe UI"/>
              </a:rPr>
              <a:t>License MockMirror to universities and corporate HR portals.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312E81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B7280"/>
                </a:solidFill>
                <a:latin typeface="Segoe UI"/>
              </a:defRPr>
            </a:pPr>
            <a:r>
              <a:t>Built with Modern, Privacy-First Technologies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34440"/>
            <a:ext cx="1828800" cy="320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03520" cy="38404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D9488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920240"/>
            <a:ext cx="1097280" cy="320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rontend_tech_logos_17861170765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4937760" cy="30175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09360" y="1463040"/>
            <a:ext cx="5303520" cy="38404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3B82F6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920240"/>
            <a:ext cx="109728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ackend_tech_logos_178611708895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057400"/>
            <a:ext cx="4937760" cy="30175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8640" y="5532120"/>
            <a:ext cx="1106424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12E81"/>
                </a:solidFill>
                <a:latin typeface="Segoe UI"/>
              </a:defRPr>
            </a:pPr>
            <a:r>
              <a:t>KEY ARCHITECTURE PRINCIPLES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833872"/>
            <a:ext cx="1371600" cy="320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F2937"/>
                </a:solidFill>
                <a:latin typeface="Segoe UI"/>
              </a:defRPr>
            </a:pPr>
            <a:r>
              <a:t>🔒  100% Privacy</a:t>
            </a:r>
            <a:br/>
            <a:r>
              <a:t>No database. No login. Resume parsed in-memory.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943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F2937"/>
                </a:solidFill>
                <a:latin typeface="Segoe UI"/>
              </a:defRPr>
            </a:pPr>
            <a:r>
              <a:t>📷  Client-Side Vision</a:t>
            </a:r>
            <a:br/>
            <a:r>
              <a:t>All camera processing runs locally in the browser.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943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F2937"/>
                </a:solidFill>
                <a:latin typeface="Segoe UI"/>
              </a:defRPr>
            </a:pPr>
            <a:r>
              <a:t>⚡  Zero Friction</a:t>
            </a:r>
            <a:br/>
            <a:r>
              <a:t>Open website → Upload resume → Start. Under 60s.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ckmirror_logo_light_17861130305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457200"/>
            <a:ext cx="457200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2004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 i="0">
                <a:solidFill>
                  <a:srgbClr val="312E81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0D9488"/>
                </a:solidFill>
                <a:latin typeface="Segoe UI"/>
              </a:defRPr>
            </a:pPr>
            <a:r>
              <a:t>MockMirror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6B7280"/>
                </a:solidFill>
                <a:latin typeface="Segoe UI"/>
              </a:defRPr>
            </a:pPr>
            <a:r>
              <a:t>Practice. Reflect. Improve.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892040"/>
            <a:ext cx="2103120" cy="320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1F2937"/>
                </a:solidFill>
                <a:latin typeface="Segoe UI"/>
              </a:defRPr>
            </a:pPr>
            <a:r>
              <a:t>We are ready for your 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